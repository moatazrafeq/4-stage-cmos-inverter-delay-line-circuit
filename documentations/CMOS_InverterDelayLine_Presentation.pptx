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70" r:id="rId9"/>
    <p:sldId id="262" r:id="rId10"/>
    <p:sldId id="269" r:id="rId11"/>
    <p:sldId id="271" r:id="rId12"/>
    <p:sldId id="263" r:id="rId13"/>
    <p:sldId id="264" r:id="rId14"/>
    <p:sldId id="272" r:id="rId15"/>
    <p:sldId id="273" r:id="rId16"/>
    <p:sldId id="275" r:id="rId17"/>
    <p:sldId id="265" r:id="rId18"/>
    <p:sldId id="274" r:id="rId19"/>
    <p:sldId id="266" r:id="rId20"/>
    <p:sldId id="267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52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61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ataz Rafeq" userId="a0f0efc91a0bfcc4" providerId="LiveId" clId="{D48B1C2B-327B-4F32-A076-00A4C1D7030D}"/>
    <pc:docChg chg="undo custSel addSld delSld modSld">
      <pc:chgData name="Moataz Rafeq" userId="a0f0efc91a0bfcc4" providerId="LiveId" clId="{D48B1C2B-327B-4F32-A076-00A4C1D7030D}" dt="2026-05-23T13:56:00.950" v="19" actId="20577"/>
      <pc:docMkLst>
        <pc:docMk/>
      </pc:docMkLst>
      <pc:sldChg chg="modSp mod">
        <pc:chgData name="Moataz Rafeq" userId="a0f0efc91a0bfcc4" providerId="LiveId" clId="{D48B1C2B-327B-4F32-A076-00A4C1D7030D}" dt="2026-05-23T13:27:39.083" v="3" actId="20577"/>
        <pc:sldMkLst>
          <pc:docMk/>
          <pc:sldMk cId="0" sldId="256"/>
        </pc:sldMkLst>
        <pc:spChg chg="mod">
          <ac:chgData name="Moataz Rafeq" userId="a0f0efc91a0bfcc4" providerId="LiveId" clId="{D48B1C2B-327B-4F32-A076-00A4C1D7030D}" dt="2026-05-23T13:27:37.995" v="2" actId="20577"/>
          <ac:spMkLst>
            <pc:docMk/>
            <pc:sldMk cId="0" sldId="256"/>
            <ac:spMk id="39" creationId="{00000000-0000-0000-0000-000000000000}"/>
          </ac:spMkLst>
        </pc:spChg>
        <pc:spChg chg="mod">
          <ac:chgData name="Moataz Rafeq" userId="a0f0efc91a0bfcc4" providerId="LiveId" clId="{D48B1C2B-327B-4F32-A076-00A4C1D7030D}" dt="2026-05-23T13:27:39.083" v="3" actId="20577"/>
          <ac:spMkLst>
            <pc:docMk/>
            <pc:sldMk cId="0" sldId="256"/>
            <ac:spMk id="40" creationId="{00000000-0000-0000-0000-000000000000}"/>
          </ac:spMkLst>
        </pc:spChg>
      </pc:sldChg>
      <pc:sldChg chg="modSp mod">
        <pc:chgData name="Moataz Rafeq" userId="a0f0efc91a0bfcc4" providerId="LiveId" clId="{D48B1C2B-327B-4F32-A076-00A4C1D7030D}" dt="2026-05-23T13:39:20.150" v="6" actId="20577"/>
        <pc:sldMkLst>
          <pc:docMk/>
          <pc:sldMk cId="0" sldId="260"/>
        </pc:sldMkLst>
        <pc:spChg chg="mod">
          <ac:chgData name="Moataz Rafeq" userId="a0f0efc91a0bfcc4" providerId="LiveId" clId="{D48B1C2B-327B-4F32-A076-00A4C1D7030D}" dt="2026-05-23T13:39:20.150" v="6" actId="20577"/>
          <ac:spMkLst>
            <pc:docMk/>
            <pc:sldMk cId="0" sldId="260"/>
            <ac:spMk id="5" creationId="{00000000-0000-0000-0000-000000000000}"/>
          </ac:spMkLst>
        </pc:spChg>
      </pc:sldChg>
      <pc:sldChg chg="new del">
        <pc:chgData name="Moataz Rafeq" userId="a0f0efc91a0bfcc4" providerId="LiveId" clId="{D48B1C2B-327B-4F32-A076-00A4C1D7030D}" dt="2026-05-23T13:39:20.468" v="7" actId="680"/>
        <pc:sldMkLst>
          <pc:docMk/>
          <pc:sldMk cId="1482741757" sldId="275"/>
        </pc:sldMkLst>
      </pc:sldChg>
      <pc:sldChg chg="addSp delSp modSp add mod">
        <pc:chgData name="Moataz Rafeq" userId="a0f0efc91a0bfcc4" providerId="LiveId" clId="{D48B1C2B-327B-4F32-A076-00A4C1D7030D}" dt="2026-05-23T13:56:00.950" v="19" actId="20577"/>
        <pc:sldMkLst>
          <pc:docMk/>
          <pc:sldMk cId="3175429636" sldId="275"/>
        </pc:sldMkLst>
        <pc:spChg chg="mod">
          <ac:chgData name="Moataz Rafeq" userId="a0f0efc91a0bfcc4" providerId="LiveId" clId="{D48B1C2B-327B-4F32-A076-00A4C1D7030D}" dt="2026-05-23T13:55:39.974" v="11"/>
          <ac:spMkLst>
            <pc:docMk/>
            <pc:sldMk cId="3175429636" sldId="275"/>
            <ac:spMk id="5" creationId="{6C245000-437D-A7C5-7F86-987A2081F76E}"/>
          </ac:spMkLst>
        </pc:spChg>
        <pc:spChg chg="mod">
          <ac:chgData name="Moataz Rafeq" userId="a0f0efc91a0bfcc4" providerId="LiveId" clId="{D48B1C2B-327B-4F32-A076-00A4C1D7030D}" dt="2026-05-23T13:56:00.950" v="19" actId="20577"/>
          <ac:spMkLst>
            <pc:docMk/>
            <pc:sldMk cId="3175429636" sldId="275"/>
            <ac:spMk id="28" creationId="{C455523D-DDB7-39D7-9114-C3C21B0F6ADA}"/>
          </ac:spMkLst>
        </pc:spChg>
        <pc:picChg chg="del">
          <ac:chgData name="Moataz Rafeq" userId="a0f0efc91a0bfcc4" providerId="LiveId" clId="{D48B1C2B-327B-4F32-A076-00A4C1D7030D}" dt="2026-05-23T13:55:41.545" v="12" actId="478"/>
          <ac:picMkLst>
            <pc:docMk/>
            <pc:sldMk cId="3175429636" sldId="275"/>
            <ac:picMk id="7" creationId="{F059F04A-E3A4-7E97-FFFD-D4A27CB13D18}"/>
          </ac:picMkLst>
        </pc:picChg>
        <pc:picChg chg="add mod">
          <ac:chgData name="Moataz Rafeq" userId="a0f0efc91a0bfcc4" providerId="LiveId" clId="{D48B1C2B-327B-4F32-A076-00A4C1D7030D}" dt="2026-05-23T13:55:57.585" v="18" actId="14100"/>
          <ac:picMkLst>
            <pc:docMk/>
            <pc:sldMk cId="3175429636" sldId="275"/>
            <ac:picMk id="10" creationId="{98F6D339-9B7D-4647-9707-B294A708A23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691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F32DF-6B66-705A-CD0C-C213FAE2F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462EB8-B283-D270-CB94-59B01B539A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7FC0E-9968-B122-C96E-22D52BF949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FDB37-61E2-F85C-5C74-E72179036C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0840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91539-5658-1024-476D-38C58750A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A32BA6-FEFC-BA7C-F4D3-7E8C74B7C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F60E6A-609C-4AE1-0AFE-1E5C87DC1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E8C2E-7218-E337-E01E-AA0C5B05ED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4906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6724D-DABD-5378-A7AF-D71AE5883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55C617-C41D-AB6E-20D9-BB7A428807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3B90EE-23CC-FFA1-A3D4-050763742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6B80D-CDB7-8D20-237C-56EC9E8B80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3707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E07A5-9DD0-A110-A05C-EAD2B7F34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FA4BFD-645B-BCD6-2DAA-B8998649E6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5301EA-8AB9-76C2-FFAE-AD0165C264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7C803-1EAC-FA13-2F1B-2DE49CF443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6634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119A2-0D26-C453-937B-FA7F3A2E5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C8FFB6-3945-FCB4-4847-E249E2725F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206523-8A1B-9CDA-0240-76D6B5BDD6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68E2A-26F5-1932-8AA3-3C3607931F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8835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EBCA7-F284-41F1-7826-2F24C784D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BD3F4B-626B-2DD0-F6DE-6965777613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6751D7-14E8-A5B1-86F4-67005B247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F3496-5742-6E80-6862-E19B633F4D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2953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EBCA7-F284-41F1-7826-2F24C784D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BD3F4B-626B-2DD0-F6DE-6965777613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6751D7-14E8-A5B1-86F4-67005B247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F3496-5742-6E80-6862-E19B633F4D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698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AD70B-313A-A875-E7BF-70E2AE19C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34DC8C-65A5-8784-FD11-7508B1EE39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C6263E-CB47-4929-1C2B-40EE00D256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8C417-EA8A-4054-1738-3518DAF917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492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"/>
            <a:ext cx="9144000" cy="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9536"/>
            <a:ext cx="9144000" cy="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9304"/>
            <a:ext cx="9144000" cy="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19072"/>
            <a:ext cx="9144000" cy="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8608"/>
            <a:ext cx="9144000" cy="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08376"/>
            <a:ext cx="9144000" cy="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438144"/>
            <a:ext cx="9144000" cy="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67912"/>
            <a:ext cx="9144000" cy="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727448"/>
            <a:ext cx="9144000" cy="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7180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6052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4924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2668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1540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00C8FF">
              <a:alpha val="7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274320"/>
            <a:ext cx="2194560" cy="365760"/>
          </a:xfrm>
          <a:prstGeom prst="rect">
            <a:avLst/>
          </a:prstGeom>
          <a:solidFill>
            <a:srgbClr val="00C8FF">
              <a:alpha val="2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274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FF"/>
                </a:solidFill>
              </a:rPr>
              <a:t>ECE 326 — Integrated Circuits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9601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Stage CMOS Inverter</a:t>
            </a:r>
            <a:endParaRPr lang="en-US" sz="5800" dirty="0"/>
          </a:p>
        </p:txBody>
      </p:sp>
      <p:sp>
        <p:nvSpPr>
          <p:cNvPr id="35" name="Text 33"/>
          <p:cNvSpPr/>
          <p:nvPr/>
        </p:nvSpPr>
        <p:spPr>
          <a:xfrm>
            <a:off x="457200" y="1874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kern="0" spc="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Line Circuit</a:t>
            </a:r>
            <a:endParaRPr lang="en-US" sz="4600" dirty="0"/>
          </a:p>
        </p:txBody>
      </p:sp>
      <p:sp>
        <p:nvSpPr>
          <p:cNvPr id="36" name="Text 34"/>
          <p:cNvSpPr/>
          <p:nvPr/>
        </p:nvSpPr>
        <p:spPr>
          <a:xfrm>
            <a:off x="457200" y="27249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A9BBF"/>
                </a:solidFill>
              </a:rPr>
              <a:t>4-Stage IC Layout | Cadence Virtuoso | TSMC 65nm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57200" y="3182112"/>
            <a:ext cx="7772400" cy="0"/>
          </a:xfrm>
          <a:prstGeom prst="line">
            <a:avLst/>
          </a:prstGeom>
          <a:noFill/>
          <a:ln w="19050">
            <a:solidFill>
              <a:srgbClr val="1E3A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54122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DFFA6"/>
                </a:solidFill>
              </a:rPr>
              <a:t>Project Team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386126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1.  </a:t>
            </a:r>
            <a:r>
              <a:rPr lang="en-US" sz="1200" dirty="0" err="1">
                <a:solidFill>
                  <a:srgbClr val="FFFFFF"/>
                </a:solidFill>
              </a:rPr>
              <a:t>عبد</a:t>
            </a:r>
            <a:r>
              <a:rPr lang="en-US" sz="1200" dirty="0">
                <a:solidFill>
                  <a:srgbClr val="FFFFFF"/>
                </a:solidFill>
              </a:rPr>
              <a:t> </a:t>
            </a:r>
            <a:r>
              <a:rPr lang="en-US" sz="1200" dirty="0" err="1">
                <a:solidFill>
                  <a:srgbClr val="FFFFFF"/>
                </a:solidFill>
              </a:rPr>
              <a:t>الرحمن</a:t>
            </a:r>
            <a:r>
              <a:rPr lang="en-US" sz="1200" dirty="0">
                <a:solidFill>
                  <a:srgbClr val="FFFFFF"/>
                </a:solidFill>
              </a:rPr>
              <a:t> </a:t>
            </a:r>
            <a:r>
              <a:rPr lang="en-US" sz="1200" dirty="0" err="1">
                <a:solidFill>
                  <a:srgbClr val="FFFFFF"/>
                </a:solidFill>
              </a:rPr>
              <a:t>عبدالهادي</a:t>
            </a:r>
            <a:r>
              <a:rPr lang="en-US" sz="1200" dirty="0">
                <a:solidFill>
                  <a:srgbClr val="FFFFFF"/>
                </a:solidFill>
              </a:rPr>
              <a:t> </a:t>
            </a:r>
            <a:r>
              <a:rPr lang="en-US" sz="1200" dirty="0" err="1">
                <a:solidFill>
                  <a:srgbClr val="FFFFFF"/>
                </a:solidFill>
              </a:rPr>
              <a:t>عبدالرحمن</a:t>
            </a:r>
            <a:r>
              <a:rPr lang="en-US" sz="1200" dirty="0">
                <a:solidFill>
                  <a:srgbClr val="FFFFFF"/>
                </a:solidFill>
              </a:rPr>
              <a:t>  — Section 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415387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2.  </a:t>
            </a:r>
            <a:r>
              <a:rPr lang="en-US" sz="1200" dirty="0" err="1">
                <a:solidFill>
                  <a:srgbClr val="FFFFFF"/>
                </a:solidFill>
              </a:rPr>
              <a:t>عبدالله</a:t>
            </a:r>
            <a:r>
              <a:rPr lang="en-US" sz="1200" dirty="0">
                <a:solidFill>
                  <a:srgbClr val="FFFFFF"/>
                </a:solidFill>
              </a:rPr>
              <a:t> </a:t>
            </a:r>
            <a:r>
              <a:rPr lang="en-US" sz="1200" dirty="0" err="1">
                <a:solidFill>
                  <a:srgbClr val="FFFFFF"/>
                </a:solidFill>
              </a:rPr>
              <a:t>رضا</a:t>
            </a:r>
            <a:r>
              <a:rPr lang="en-US" sz="1200" dirty="0">
                <a:solidFill>
                  <a:srgbClr val="FFFFFF"/>
                </a:solidFill>
              </a:rPr>
              <a:t> </a:t>
            </a:r>
            <a:r>
              <a:rPr lang="en-US" sz="1200" dirty="0" err="1">
                <a:solidFill>
                  <a:srgbClr val="FFFFFF"/>
                </a:solidFill>
              </a:rPr>
              <a:t>عبدالله</a:t>
            </a:r>
            <a:r>
              <a:rPr lang="en-US" sz="1200" dirty="0">
                <a:solidFill>
                  <a:srgbClr val="FFFFFF"/>
                </a:solidFill>
              </a:rPr>
              <a:t> </a:t>
            </a:r>
            <a:r>
              <a:rPr lang="en-US" sz="1200" dirty="0" err="1">
                <a:solidFill>
                  <a:srgbClr val="FFFFFF"/>
                </a:solidFill>
              </a:rPr>
              <a:t>عبدالمنعم</a:t>
            </a:r>
            <a:r>
              <a:rPr lang="en-US" sz="1200" dirty="0">
                <a:solidFill>
                  <a:srgbClr val="FFFFFF"/>
                </a:solidFill>
              </a:rPr>
              <a:t>  — Section 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444647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3.  عمر أيمن محمد سعيد  — Section 3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663440" y="386126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4.  معتز رفيق حمدي موسى  — Section 5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663440" y="415387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5.  أحمد طارق عبدالحميد  — Section 1</a:t>
            </a:r>
            <a:endParaRPr lang="en-US" sz="1200" dirty="0"/>
          </a:p>
        </p:txBody>
      </p:sp>
      <p:sp>
        <p:nvSpPr>
          <p:cNvPr id="44" name="Text 34"/>
          <p:cNvSpPr/>
          <p:nvPr/>
        </p:nvSpPr>
        <p:spPr>
          <a:xfrm>
            <a:off x="457200" y="3238223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Dr. Ahmed Wahba</a:t>
            </a:r>
            <a:endParaRPr lang="en-US" sz="1200" b="1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DFFA6"/>
          </a:solidFill>
          <a:ln w="12700">
            <a:solidFill>
              <a:srgbClr val="4DF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50392"/>
            <a:ext cx="8412480" cy="0"/>
          </a:xfrm>
          <a:prstGeom prst="line">
            <a:avLst/>
          </a:prstGeom>
          <a:noFill/>
          <a:ln w="12700">
            <a:solidFill>
              <a:srgbClr val="1E3A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114800" cy="658368"/>
          </a:xfrm>
          <a:prstGeom prst="rect">
            <a:avLst/>
          </a:prstGeom>
          <a:solidFill>
            <a:srgbClr val="111D40"/>
          </a:solidFill>
          <a:ln w="1270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02920" cy="658368"/>
          </a:xfrm>
          <a:prstGeom prst="rect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100584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Circuit Description &amp; Operating Principle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4114800" cy="658368"/>
          </a:xfrm>
          <a:prstGeom prst="rect">
            <a:avLst/>
          </a:prstGeom>
          <a:solidFill>
            <a:srgbClr val="111D40"/>
          </a:solidFill>
          <a:ln w="12700">
            <a:solidFill>
              <a:srgbClr val="4DFF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783080"/>
            <a:ext cx="502920" cy="658368"/>
          </a:xfrm>
          <a:prstGeom prst="rect">
            <a:avLst/>
          </a:prstGeom>
          <a:solidFill>
            <a:srgbClr val="4DFFA6">
              <a:alpha val="80000"/>
            </a:srgbClr>
          </a:solidFill>
          <a:ln w="12700">
            <a:solidFill>
              <a:srgbClr val="4DFF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8308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178308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Schematic Diagrams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4114800" cy="658368"/>
          </a:xfrm>
          <a:prstGeom prst="rect">
            <a:avLst/>
          </a:prstGeom>
          <a:solidFill>
            <a:srgbClr val="111D40"/>
          </a:solidFill>
          <a:ln w="1270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560320"/>
            <a:ext cx="502920" cy="658368"/>
          </a:xfrm>
          <a:prstGeom prst="rect">
            <a:avLst/>
          </a:prstGeom>
          <a:solidFill>
            <a:srgbClr val="FFB800">
              <a:alpha val="8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6032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2688" y="256032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Pre-Layout Simulation Results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4114800" cy="658368"/>
          </a:xfrm>
          <a:prstGeom prst="rect">
            <a:avLst/>
          </a:prstGeom>
          <a:solidFill>
            <a:srgbClr val="111D40"/>
          </a:solidFill>
          <a:ln w="1270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337560"/>
            <a:ext cx="502920" cy="658368"/>
          </a:xfrm>
          <a:prstGeom prst="rect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33756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2688" y="333756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Layout Design &amp; Screenshots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114800"/>
            <a:ext cx="4114800" cy="658368"/>
          </a:xfrm>
          <a:prstGeom prst="rect">
            <a:avLst/>
          </a:prstGeom>
          <a:solidFill>
            <a:srgbClr val="111D40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114800"/>
            <a:ext cx="502920" cy="658368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11480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2688" y="411480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DRC Verification Results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1005840"/>
            <a:ext cx="4114800" cy="658368"/>
          </a:xfrm>
          <a:prstGeom prst="rect">
            <a:avLst/>
          </a:prstGeom>
          <a:solidFill>
            <a:srgbClr val="111D40"/>
          </a:solidFill>
          <a:ln w="12700">
            <a:solidFill>
              <a:srgbClr val="4DFF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005840"/>
            <a:ext cx="502920" cy="658368"/>
          </a:xfrm>
          <a:prstGeom prst="rect">
            <a:avLst/>
          </a:prstGeom>
          <a:solidFill>
            <a:srgbClr val="4DFFA6">
              <a:alpha val="80000"/>
            </a:srgbClr>
          </a:solidFill>
          <a:ln w="12700">
            <a:solidFill>
              <a:srgbClr val="4DFF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0058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21808" y="100584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LVS Verification Results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1783080"/>
            <a:ext cx="4114800" cy="658368"/>
          </a:xfrm>
          <a:prstGeom prst="rect">
            <a:avLst/>
          </a:prstGeom>
          <a:solidFill>
            <a:srgbClr val="111D40"/>
          </a:solidFill>
          <a:ln w="1270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783080"/>
            <a:ext cx="502920" cy="658368"/>
          </a:xfrm>
          <a:prstGeom prst="rect">
            <a:avLst/>
          </a:prstGeom>
          <a:solidFill>
            <a:srgbClr val="FFB800">
              <a:alpha val="8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78308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</a:rPr>
              <a:t>07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21808" y="178308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PEX Setup &amp; Results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2560320"/>
            <a:ext cx="4114800" cy="658368"/>
          </a:xfrm>
          <a:prstGeom prst="rect">
            <a:avLst/>
          </a:prstGeom>
          <a:solidFill>
            <a:srgbClr val="111D40"/>
          </a:solidFill>
          <a:ln w="1270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2560320"/>
            <a:ext cx="502920" cy="658368"/>
          </a:xfrm>
          <a:prstGeom prst="rect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56032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</a:rPr>
              <a:t>08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321808" y="256032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Post-Layout Simulation &amp; Comparison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3337560"/>
            <a:ext cx="4114800" cy="658368"/>
          </a:xfrm>
          <a:prstGeom prst="rect">
            <a:avLst/>
          </a:prstGeom>
          <a:solidFill>
            <a:srgbClr val="111D40"/>
          </a:solidFill>
          <a:ln w="12700">
            <a:solidFill>
              <a:srgbClr val="BB86F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337560"/>
            <a:ext cx="502920" cy="658368"/>
          </a:xfrm>
          <a:prstGeom prst="rect">
            <a:avLst/>
          </a:prstGeom>
          <a:solidFill>
            <a:srgbClr val="BB86FC">
              <a:alpha val="80000"/>
            </a:srgbClr>
          </a:solidFill>
          <a:ln w="12700">
            <a:solidFill>
              <a:srgbClr val="BB86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33756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</a:rPr>
              <a:t>09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321808" y="333756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Discussion &amp; Conclusions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Circuit Description &amp; Operating Principle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7548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64008" cy="84124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51560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</a:rPr>
              <a:t>What is a CMOS Inverter?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353312"/>
            <a:ext cx="45720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4A6A"/>
                </a:solidFill>
              </a:rPr>
              <a:t>A fundamental logic gate using a PMOS (pull-up) and NMOS (pull-down) transistor in series, producing a logic complement of the input.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011680"/>
            <a:ext cx="47548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011680"/>
            <a:ext cx="64008" cy="84124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11680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</a:rPr>
              <a:t>4-Stage Delay Line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313432"/>
            <a:ext cx="45720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4A6A"/>
                </a:solidFill>
              </a:rPr>
              <a:t>Four inverters connected in cascade. Each stage introduces a propagation delay, and the overall delay is the sum of all four stage delays.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971800"/>
            <a:ext cx="47548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71800"/>
            <a:ext cx="64008" cy="84124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71800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</a:rPr>
              <a:t>Technology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273552"/>
            <a:ext cx="45720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4A6A"/>
                </a:solidFill>
              </a:rPr>
              <a:t>TSMC 65nm process node — enables low power and high-speed operation, implemented and verified in Cadence Virtuoso.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931920"/>
            <a:ext cx="47548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931920"/>
            <a:ext cx="64008" cy="84124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931920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</a:rPr>
              <a:t>Operating Principle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233672"/>
            <a:ext cx="45720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4A6A"/>
                </a:solidFill>
              </a:rPr>
              <a:t>When Vin = VDD → NMOS ON, PMOS OFF → Vout = 0. When Vin = 0 → PMOS ON, NMOS OFF → Vout = VDD. The complementary switching ensures low static power.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03520" y="1005840"/>
            <a:ext cx="3474720" cy="3840480"/>
          </a:xfrm>
          <a:prstGeom prst="rect">
            <a:avLst/>
          </a:prstGeom>
          <a:solidFill>
            <a:srgbClr val="0D1B3E"/>
          </a:solidFill>
          <a:ln w="1905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03520" y="10058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F"/>
                </a:solidFill>
              </a:rPr>
              <a:t>4-Stage Inverter Chain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0" y="2103120"/>
            <a:ext cx="594360" cy="822960"/>
          </a:xfrm>
          <a:prstGeom prst="rect">
            <a:avLst/>
          </a:prstGeom>
          <a:solidFill>
            <a:srgbClr val="111D40"/>
          </a:solidFill>
          <a:ln w="12700">
            <a:solidFill>
              <a:srgbClr val="4DFF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233172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INV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86400" y="25146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DFFA6"/>
                </a:solidFill>
              </a:rPr>
              <a:t>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80760" y="2514600"/>
            <a:ext cx="182880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63640" y="2103120"/>
            <a:ext cx="594360" cy="822960"/>
          </a:xfrm>
          <a:prstGeom prst="rect">
            <a:avLst/>
          </a:prstGeom>
          <a:solidFill>
            <a:srgbClr val="111D40"/>
          </a:solidFill>
          <a:ln w="12700">
            <a:solidFill>
              <a:srgbClr val="4DFF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233172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INV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63640" y="25146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DFFA6"/>
                </a:solidFill>
              </a:rPr>
              <a:t>2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58000" y="2514600"/>
            <a:ext cx="182880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40880" y="2103120"/>
            <a:ext cx="594360" cy="822960"/>
          </a:xfrm>
          <a:prstGeom prst="rect">
            <a:avLst/>
          </a:prstGeom>
          <a:solidFill>
            <a:srgbClr val="111D40"/>
          </a:solidFill>
          <a:ln w="12700">
            <a:solidFill>
              <a:srgbClr val="4DFF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0" y="233172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INV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040880" y="25146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DFFA6"/>
                </a:solidFill>
              </a:rPr>
              <a:t>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635240" y="2514600"/>
            <a:ext cx="182880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18120" y="2103120"/>
            <a:ext cx="594360" cy="822960"/>
          </a:xfrm>
          <a:prstGeom prst="rect">
            <a:avLst/>
          </a:prstGeom>
          <a:solidFill>
            <a:srgbClr val="111D40"/>
          </a:solidFill>
          <a:ln w="12700">
            <a:solidFill>
              <a:srgbClr val="4DFF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18120" y="233172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INV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818120" y="25146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DFFA6"/>
                </a:solidFill>
              </a:rPr>
              <a:t>4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86400" y="1508760"/>
            <a:ext cx="3200400" cy="0"/>
          </a:xfrm>
          <a:prstGeom prst="line">
            <a:avLst/>
          </a:prstGeom>
          <a:noFill/>
          <a:ln w="12700">
            <a:solidFill>
              <a:srgbClr val="FFB8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44345" y="131729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B800"/>
                </a:solidFill>
              </a:rPr>
              <a:t>VDD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486400" y="3291840"/>
            <a:ext cx="3200400" cy="0"/>
          </a:xfrm>
          <a:prstGeom prst="line">
            <a:avLst/>
          </a:prstGeom>
          <a:noFill/>
          <a:ln w="12700">
            <a:solidFill>
              <a:srgbClr val="FF6B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03920" y="32735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6B6B"/>
                </a:solidFill>
              </a:rPr>
              <a:t>VSS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321808" y="24505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FF"/>
                </a:solidFill>
              </a:rPr>
              <a:t>Vin →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339328" y="24505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DFFA6"/>
                </a:solidFill>
              </a:rPr>
              <a:t>→ Vout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440680" y="3566160"/>
            <a:ext cx="3108960" cy="384048"/>
          </a:xfrm>
          <a:prstGeom prst="rect">
            <a:avLst/>
          </a:prstGeom>
          <a:solidFill>
            <a:srgbClr val="111D4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0" y="35661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PMOS: Pull-Up Network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40680" y="4041648"/>
            <a:ext cx="3108960" cy="384048"/>
          </a:xfrm>
          <a:prstGeom prst="rect">
            <a:avLst/>
          </a:prstGeom>
          <a:solidFill>
            <a:srgbClr val="111D4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0" y="40416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NMOS: Pull-Down Network</a:t>
            </a:r>
            <a:endParaRPr lang="en-US" sz="1000" dirty="0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7013AD8-1C2E-11FF-773E-5E40C142A91D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5783580" y="1508760"/>
            <a:ext cx="0" cy="5943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ED85E6A-6401-AD1B-DB9A-A07CB890EC27}"/>
              </a:ext>
            </a:extLst>
          </p:cNvPr>
          <p:cNvCxnSpPr>
            <a:cxnSpLocks/>
          </p:cNvCxnSpPr>
          <p:nvPr/>
        </p:nvCxnSpPr>
        <p:spPr>
          <a:xfrm>
            <a:off x="6566362" y="1508760"/>
            <a:ext cx="0" cy="5943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13E4B37-5BF7-8608-74FD-96B73B26B023}"/>
              </a:ext>
            </a:extLst>
          </p:cNvPr>
          <p:cNvCxnSpPr>
            <a:cxnSpLocks/>
          </p:cNvCxnSpPr>
          <p:nvPr/>
        </p:nvCxnSpPr>
        <p:spPr>
          <a:xfrm>
            <a:off x="7328362" y="1508760"/>
            <a:ext cx="0" cy="5943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ABC5CD0-1EB2-34A5-43FE-9D4A979F8F90}"/>
              </a:ext>
            </a:extLst>
          </p:cNvPr>
          <p:cNvCxnSpPr>
            <a:cxnSpLocks/>
          </p:cNvCxnSpPr>
          <p:nvPr/>
        </p:nvCxnSpPr>
        <p:spPr>
          <a:xfrm>
            <a:off x="8111144" y="1514302"/>
            <a:ext cx="0" cy="5943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F8845E0-DA7C-4E76-BA3A-19D380EE6282}"/>
              </a:ext>
            </a:extLst>
          </p:cNvPr>
          <p:cNvCxnSpPr>
            <a:endCxn id="24" idx="2"/>
          </p:cNvCxnSpPr>
          <p:nvPr/>
        </p:nvCxnSpPr>
        <p:spPr>
          <a:xfrm flipV="1">
            <a:off x="5783580" y="2926080"/>
            <a:ext cx="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F345846-F67A-12BE-3241-B058759CB6A6}"/>
              </a:ext>
            </a:extLst>
          </p:cNvPr>
          <p:cNvCxnSpPr/>
          <p:nvPr/>
        </p:nvCxnSpPr>
        <p:spPr>
          <a:xfrm flipV="1">
            <a:off x="6580909" y="2928852"/>
            <a:ext cx="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D4C4C8C7-F008-0548-9890-E1D072FD1610}"/>
              </a:ext>
            </a:extLst>
          </p:cNvPr>
          <p:cNvCxnSpPr/>
          <p:nvPr/>
        </p:nvCxnSpPr>
        <p:spPr>
          <a:xfrm flipV="1">
            <a:off x="7335289" y="2914719"/>
            <a:ext cx="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9A02502-8DA1-8E47-466F-BD0FA9CCFE79}"/>
              </a:ext>
            </a:extLst>
          </p:cNvPr>
          <p:cNvCxnSpPr/>
          <p:nvPr/>
        </p:nvCxnSpPr>
        <p:spPr>
          <a:xfrm flipV="1">
            <a:off x="8111144" y="2920261"/>
            <a:ext cx="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4DFFA6"/>
          </a:solidFill>
          <a:ln w="12700">
            <a:solidFill>
              <a:srgbClr val="4DFF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DFFA6"/>
                </a:solidFill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Schematic Diagrams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599" y="914400"/>
            <a:ext cx="8527473" cy="3886200"/>
          </a:xfrm>
          <a:prstGeom prst="rect">
            <a:avLst/>
          </a:prstGeom>
          <a:solidFill>
            <a:srgbClr val="111D40"/>
          </a:solidFill>
          <a:ln w="19050">
            <a:solidFill>
              <a:srgbClr val="4DFF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599" y="914400"/>
            <a:ext cx="8527473" cy="347472"/>
          </a:xfrm>
          <a:prstGeom prst="rect">
            <a:avLst/>
          </a:prstGeom>
          <a:solidFill>
            <a:srgbClr val="1A3050"/>
          </a:solidFill>
          <a:ln w="12700">
            <a:solidFill>
              <a:srgbClr val="4DFF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144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DFFA6"/>
                </a:solidFill>
              </a:rPr>
              <a:t>Single CMOS Inverter — Schematic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79" y="1353311"/>
            <a:ext cx="8185265" cy="3322597"/>
          </a:xfrm>
          <a:prstGeom prst="rect">
            <a:avLst/>
          </a:prstGeom>
          <a:solidFill>
            <a:srgbClr val="0D1530"/>
          </a:solidFill>
          <a:ln w="12700">
            <a:solidFill>
              <a:srgbClr val="2A4070"/>
            </a:solidFill>
            <a:prstDash val="solid"/>
          </a:ln>
        </p:spPr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C56DA8C-0400-5B5E-3F9A-4CB46EF88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550" y="1401787"/>
            <a:ext cx="5631871" cy="322564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76C564-E0D8-8629-0B1B-53200AAA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D6EAA37-75F6-C227-825C-BDC67E932506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D55CD88-6EE0-03D1-BA0E-EC53AE91CC9D}"/>
              </a:ext>
            </a:extLst>
          </p:cNvPr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4DFFA6"/>
          </a:solidFill>
          <a:ln w="12700">
            <a:solidFill>
              <a:srgbClr val="4DFFA6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04B6CA5-CCBB-32DB-A5EB-7753A818FFA9}"/>
              </a:ext>
            </a:extLst>
          </p:cNvPr>
          <p:cNvSpPr/>
          <p:nvPr/>
        </p:nvSpPr>
        <p:spPr>
          <a:xfrm>
            <a:off x="182880" y="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DFFA6"/>
                </a:solidFill>
              </a:rPr>
              <a:t>02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761B47C-7C21-F620-AB45-629D934269D4}"/>
              </a:ext>
            </a:extLst>
          </p:cNvPr>
          <p:cNvSpPr/>
          <p:nvPr/>
        </p:nvSpPr>
        <p:spPr>
          <a:xfrm>
            <a:off x="777240" y="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Schematic Diagrams</a:t>
            </a:r>
            <a:endParaRPr lang="en-US" sz="2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B5168B8-229F-6542-74D0-4849FD36E40A}"/>
              </a:ext>
            </a:extLst>
          </p:cNvPr>
          <p:cNvSpPr/>
          <p:nvPr/>
        </p:nvSpPr>
        <p:spPr>
          <a:xfrm>
            <a:off x="228599" y="914400"/>
            <a:ext cx="8672945" cy="3886200"/>
          </a:xfrm>
          <a:prstGeom prst="rect">
            <a:avLst/>
          </a:prstGeom>
          <a:solidFill>
            <a:srgbClr val="111D40"/>
          </a:solidFill>
          <a:ln w="19050">
            <a:solidFill>
              <a:srgbClr val="4DFF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5468F6A-3240-BE68-7EFF-06265ACB6D65}"/>
              </a:ext>
            </a:extLst>
          </p:cNvPr>
          <p:cNvSpPr/>
          <p:nvPr/>
        </p:nvSpPr>
        <p:spPr>
          <a:xfrm>
            <a:off x="228599" y="914400"/>
            <a:ext cx="8672945" cy="347472"/>
          </a:xfrm>
          <a:prstGeom prst="rect">
            <a:avLst/>
          </a:prstGeom>
          <a:solidFill>
            <a:srgbClr val="1A3050"/>
          </a:solidFill>
          <a:ln w="12700">
            <a:solidFill>
              <a:srgbClr val="4DFFA6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6986EF2-0AB1-66AD-A20B-D7FD9CD88DE9}"/>
              </a:ext>
            </a:extLst>
          </p:cNvPr>
          <p:cNvSpPr/>
          <p:nvPr/>
        </p:nvSpPr>
        <p:spPr>
          <a:xfrm>
            <a:off x="320040" y="9144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DFFA6"/>
                </a:solidFill>
              </a:rPr>
              <a:t>4 Stages CMOS Inverter — Schematic</a:t>
            </a: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D721CA3-0ECA-F518-A720-927184CD2A95}"/>
              </a:ext>
            </a:extLst>
          </p:cNvPr>
          <p:cNvSpPr/>
          <p:nvPr/>
        </p:nvSpPr>
        <p:spPr>
          <a:xfrm>
            <a:off x="411479" y="1353311"/>
            <a:ext cx="8289175" cy="3246397"/>
          </a:xfrm>
          <a:prstGeom prst="rect">
            <a:avLst/>
          </a:prstGeom>
          <a:solidFill>
            <a:srgbClr val="0D1530"/>
          </a:solidFill>
          <a:ln w="12700">
            <a:solidFill>
              <a:srgbClr val="2A4070"/>
            </a:solidFill>
            <a:prstDash val="solid"/>
          </a:ln>
        </p:spPr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DD0119D-658C-C42B-ECBA-B120AE194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695" y="1830045"/>
            <a:ext cx="8086902" cy="229292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146760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Pre-Layout Simulation Results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365760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60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800"/>
                </a:solidFill>
              </a:rPr>
              <a:t>Simulation Setup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44475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40"/>
                </a:solidFill>
              </a:rPr>
              <a:t>Analysis Type: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874520" y="14447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A"/>
                </a:solidFill>
              </a:rPr>
              <a:t>Transient Analysis (tran)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856232"/>
            <a:ext cx="3383280" cy="0"/>
          </a:xfrm>
          <a:prstGeom prst="line">
            <a:avLst/>
          </a:prstGeom>
          <a:noFill/>
          <a:ln w="6350">
            <a:solidFill>
              <a:srgbClr val="E0E8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2938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40"/>
                </a:solidFill>
              </a:rPr>
              <a:t>Input Signal: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74520" y="192938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A"/>
                </a:solidFill>
              </a:rPr>
              <a:t>Vin — pulse waveform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340864"/>
            <a:ext cx="3383280" cy="0"/>
          </a:xfrm>
          <a:prstGeom prst="line">
            <a:avLst/>
          </a:prstGeom>
          <a:noFill/>
          <a:ln w="6350">
            <a:solidFill>
              <a:srgbClr val="E0E8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41401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40"/>
                </a:solidFill>
              </a:rPr>
              <a:t>Supply Voltage: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874520" y="241401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A"/>
                </a:solidFill>
              </a:rPr>
              <a:t>VDD = 1.2V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825496"/>
            <a:ext cx="3383280" cy="0"/>
          </a:xfrm>
          <a:prstGeom prst="line">
            <a:avLst/>
          </a:prstGeom>
          <a:noFill/>
          <a:ln w="6350">
            <a:solidFill>
              <a:srgbClr val="E0E8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9864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40"/>
                </a:solidFill>
              </a:rPr>
              <a:t>Technology: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874520" y="28986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A"/>
                </a:solidFill>
              </a:rPr>
              <a:t>TSMC 65nm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310128"/>
            <a:ext cx="3383280" cy="0"/>
          </a:xfrm>
          <a:prstGeom prst="line">
            <a:avLst/>
          </a:prstGeom>
          <a:noFill/>
          <a:ln w="6350">
            <a:solidFill>
              <a:srgbClr val="E0E8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83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40"/>
                </a:solidFill>
              </a:rPr>
              <a:t>Tool: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874520" y="3383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A"/>
                </a:solidFill>
              </a:rPr>
              <a:t>Cadence Virtuoso Spectre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794760"/>
            <a:ext cx="3383280" cy="0"/>
          </a:xfrm>
          <a:prstGeom prst="line">
            <a:avLst/>
          </a:prstGeom>
          <a:noFill/>
          <a:ln w="6350">
            <a:solidFill>
              <a:srgbClr val="E0E8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86791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40"/>
                </a:solidFill>
              </a:rPr>
              <a:t>Purpose: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874520" y="38679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A"/>
                </a:solidFill>
              </a:rPr>
              <a:t>Functional verification before layout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14800" y="960120"/>
            <a:ext cx="4800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0" y="960120"/>
            <a:ext cx="480060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0" y="960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</a:rPr>
              <a:t>Vin vs Vout — Pre-Layout Transient Waveform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8600" y="4370832"/>
            <a:ext cx="86868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43708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✓  Pre-layout simulation confirmed correct logic inversion behavior with clean waveform transitions at each stage.</a:t>
            </a:r>
            <a:endParaRPr lang="en-US" sz="105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A7DC8F97-3EA8-44CA-C0BE-FBDFDA2CD5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546" r="1221"/>
          <a:stretch>
            <a:fillRect/>
          </a:stretch>
        </p:blipFill>
        <p:spPr>
          <a:xfrm>
            <a:off x="4147356" y="1371601"/>
            <a:ext cx="4732020" cy="28803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Layout Design 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3200400" cy="3840480"/>
          </a:xfrm>
          <a:prstGeom prst="rect">
            <a:avLst/>
          </a:prstGeom>
          <a:solidFill>
            <a:srgbClr val="111D40"/>
          </a:solidFill>
          <a:ln w="1270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3200400" cy="384048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601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</a:rPr>
              <a:t>Layout Design Practices rules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" y="1451955"/>
            <a:ext cx="164592" cy="16459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37603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Minimum spacing between layers respected per TSMC 65nm DRC rules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2608" y="1952934"/>
            <a:ext cx="164592" cy="16459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82852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PMOS placed in N-well region, NMOS in P-substrate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2608" y="2377716"/>
            <a:ext cx="164592" cy="16459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2394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Symmetrical layout for matched transistor performance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92608" y="2837133"/>
            <a:ext cx="164592" cy="16459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7612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Poly gate connections made via contacts and local metal routing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92608" y="3338116"/>
            <a:ext cx="164592" cy="16459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25526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Power rails (VDD/VSS) routed horizontally on metal layers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92608" y="3797530"/>
            <a:ext cx="164592" cy="16459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7216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Pins (Vin, Vout, VDD, VSS) labeled and connected to schematic ports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92608" y="4263873"/>
            <a:ext cx="164592" cy="16459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4139463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4 stages placed in a compact, area-efficient floorplan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11880" y="1351653"/>
            <a:ext cx="5303520" cy="2321968"/>
          </a:xfrm>
          <a:prstGeom prst="rect">
            <a:avLst/>
          </a:prstGeom>
          <a:solidFill>
            <a:srgbClr val="111D40"/>
          </a:solidFill>
          <a:ln w="1905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11880" y="1351653"/>
            <a:ext cx="5303520" cy="364914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03320" y="1351653"/>
            <a:ext cx="5120640" cy="36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</a:rPr>
              <a:t>4-Stage Delay Line Layout</a:t>
            </a:r>
            <a:endParaRPr lang="en-US" sz="11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0EDA8A2-207A-9C4F-B456-207EFA8D4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080" y="1694956"/>
            <a:ext cx="5588647" cy="28008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B00BC8-2A6F-89CF-B9CD-55B5CDEE3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DA39EB8-D2D4-FBCB-8F73-505197762955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C3196F0-C91D-87CE-1622-3FCF4BE6A9E6}"/>
              </a:ext>
            </a:extLst>
          </p:cNvPr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86E6460-5338-3C8E-DFFF-28A87D32871F}"/>
              </a:ext>
            </a:extLst>
          </p:cNvPr>
          <p:cNvSpPr/>
          <p:nvPr/>
        </p:nvSpPr>
        <p:spPr>
          <a:xfrm>
            <a:off x="182880" y="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</a:rPr>
              <a:t>05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1928A1A-2F24-8699-0CD2-ED90A3DB1BAA}"/>
              </a:ext>
            </a:extLst>
          </p:cNvPr>
          <p:cNvSpPr/>
          <p:nvPr/>
        </p:nvSpPr>
        <p:spPr>
          <a:xfrm>
            <a:off x="777240" y="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DRC Verification Before solving all errors</a:t>
            </a:r>
            <a:endParaRPr lang="en-US" sz="24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4F83D15-4BC3-BDE9-9C45-5E354AB78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" y="843742"/>
            <a:ext cx="8659368" cy="425640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14426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DRC Verification Results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86868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14400"/>
            <a:ext cx="502920" cy="932688"/>
          </a:xfrm>
          <a:prstGeom prst="rect">
            <a:avLst/>
          </a:prstGeom>
          <a:solidFill>
            <a:srgbClr val="FF6B6B">
              <a:alpha val="9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914400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F1E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9418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</a:rPr>
              <a:t>Missing N-Well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21615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3030"/>
                </a:solidFill>
              </a:rPr>
              <a:t>⚠  The PMOS transistors in the pull-up network had no N-Well region defined around them.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00600" y="121615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5E20"/>
                </a:solidFill>
              </a:rPr>
              <a:t>✓  Added the N-Well layer to fully surround all PMOS devices in the pull-up circuit.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987552"/>
            <a:ext cx="0" cy="786384"/>
          </a:xfrm>
          <a:prstGeom prst="line">
            <a:avLst/>
          </a:prstGeom>
          <a:noFill/>
          <a:ln w="12700">
            <a:solidFill>
              <a:srgbClr val="D0DA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938528"/>
            <a:ext cx="86868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938528"/>
            <a:ext cx="502920" cy="932688"/>
          </a:xfrm>
          <a:prstGeom prst="rect">
            <a:avLst/>
          </a:prstGeom>
          <a:solidFill>
            <a:srgbClr val="FFB800">
              <a:alpha val="9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1938528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F1E"/>
                </a:solidFill>
              </a:rPr>
              <a:t>02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1965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</a:rPr>
              <a:t>NP Layer Coverage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2240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3030"/>
                </a:solidFill>
              </a:rPr>
              <a:t>⚠  Areas containing poly-to-poly connections within the Pull-up and down circuit were not covered by the NP (N+ implant) layer.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00600" y="2240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5E20"/>
                </a:solidFill>
              </a:rPr>
              <a:t>✓  Extended the NP layer to cover all regions with poly-to-poly connections in the pull-up and down circuit.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011680"/>
            <a:ext cx="0" cy="786384"/>
          </a:xfrm>
          <a:prstGeom prst="line">
            <a:avLst/>
          </a:prstGeom>
          <a:noFill/>
          <a:ln w="12700">
            <a:solidFill>
              <a:srgbClr val="D0DA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2962656"/>
            <a:ext cx="86868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962656"/>
            <a:ext cx="502920" cy="932688"/>
          </a:xfrm>
          <a:prstGeom prst="rect">
            <a:avLst/>
          </a:prstGeom>
          <a:solidFill>
            <a:srgbClr val="4DFFA6">
              <a:alpha val="90000"/>
            </a:srgbClr>
          </a:solidFill>
          <a:ln w="12700">
            <a:solidFill>
              <a:srgbClr val="4DFF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2962656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F1E"/>
                </a:solidFill>
              </a:rPr>
              <a:t>03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299008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</a:rPr>
              <a:t>Poly–Metal Connection Outside NP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32644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3030"/>
                </a:solidFill>
              </a:rPr>
              <a:t>⚠  A connection between the poly layer and a metal layer existed outside the NP region boundary, violating DRC rules.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0600" y="32644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5E20"/>
                </a:solidFill>
              </a:rPr>
              <a:t>✓  Extended the NP area to fully cover this poly-to-metal connection, bringing it within the required implant region.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035808"/>
            <a:ext cx="0" cy="786384"/>
          </a:xfrm>
          <a:prstGeom prst="line">
            <a:avLst/>
          </a:prstGeom>
          <a:noFill/>
          <a:ln w="12700">
            <a:solidFill>
              <a:srgbClr val="D0DA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" y="3986784"/>
            <a:ext cx="86868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28600" y="3986784"/>
            <a:ext cx="502920" cy="932688"/>
          </a:xfrm>
          <a:prstGeom prst="rect">
            <a:avLst/>
          </a:prstGeom>
          <a:solidFill>
            <a:srgbClr val="00C8FF">
              <a:alpha val="9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986784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F1E"/>
                </a:solidFill>
              </a:rPr>
              <a:t>04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2960" y="401421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</a:rPr>
              <a:t>Pin Label Errors (VSS, Vin, VDD, Vout)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428853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3030"/>
                </a:solidFill>
              </a:rPr>
              <a:t>⚠  Pins in the layout were missing labels, causing a mismatch between layout and schematic port connections.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00600" y="428853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5E20"/>
                </a:solidFill>
              </a:rPr>
              <a:t>✓  Added text labels for each pin (VSS, Vin, VDD, Vout) in the layout to correctly link all ports to the schematic.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4059936"/>
            <a:ext cx="0" cy="786384"/>
          </a:xfrm>
          <a:prstGeom prst="line">
            <a:avLst/>
          </a:prstGeom>
          <a:noFill/>
          <a:ln w="12700">
            <a:solidFill>
              <a:srgbClr val="D0DA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" y="4983480"/>
            <a:ext cx="8686800" cy="182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6443D8-354A-4E98-9A78-A244F896B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D5C9FBB-19CC-9BE5-C7FE-1262B86FE6C7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2F9CB0E-8E9A-1166-434C-CB01069EB3F1}"/>
              </a:ext>
            </a:extLst>
          </p:cNvPr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748D004-1E2D-57FF-C3AD-E2BE0E7FB8C9}"/>
              </a:ext>
            </a:extLst>
          </p:cNvPr>
          <p:cNvSpPr/>
          <p:nvPr/>
        </p:nvSpPr>
        <p:spPr>
          <a:xfrm>
            <a:off x="182880" y="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</a:rPr>
              <a:t>05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B734B66-C983-98CE-8B65-717BFFDD1CEC}"/>
              </a:ext>
            </a:extLst>
          </p:cNvPr>
          <p:cNvSpPr/>
          <p:nvPr/>
        </p:nvSpPr>
        <p:spPr>
          <a:xfrm>
            <a:off x="777240" y="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DRC Verification After solving all errors</a:t>
            </a:r>
            <a:endParaRPr lang="en-US" sz="24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51BC79B-BFD4-913F-5CFF-81CC7B128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387" y="829088"/>
            <a:ext cx="8641080" cy="43144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62323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1B153E-032D-183B-239B-09A120AAC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A130945-7D59-BC6D-86D7-02F3FE0B48D1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FD01640-2C7B-068C-FFB9-E0EEFC32AE85}"/>
              </a:ext>
            </a:extLst>
          </p:cNvPr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4DFFA6"/>
          </a:solidFill>
          <a:ln w="12700">
            <a:solidFill>
              <a:srgbClr val="4DFFA6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50D80E8-86A4-1CE5-ECB6-230E2C283C09}"/>
              </a:ext>
            </a:extLst>
          </p:cNvPr>
          <p:cNvSpPr/>
          <p:nvPr/>
        </p:nvSpPr>
        <p:spPr>
          <a:xfrm>
            <a:off x="182880" y="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DFFA6"/>
                </a:solidFill>
              </a:rPr>
              <a:t>06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21138EC-496F-145C-216B-ADECBB936F0F}"/>
              </a:ext>
            </a:extLst>
          </p:cNvPr>
          <p:cNvSpPr/>
          <p:nvPr/>
        </p:nvSpPr>
        <p:spPr>
          <a:xfrm>
            <a:off x="777240" y="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LVS — Layout Versus Schematic</a:t>
            </a:r>
            <a:endParaRPr lang="en-US" sz="2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A888BF0-D092-C45B-775D-63231D0C979D}"/>
              </a:ext>
            </a:extLst>
          </p:cNvPr>
          <p:cNvSpPr/>
          <p:nvPr/>
        </p:nvSpPr>
        <p:spPr>
          <a:xfrm>
            <a:off x="182880" y="1273232"/>
            <a:ext cx="2743200" cy="1188720"/>
          </a:xfrm>
          <a:prstGeom prst="rect">
            <a:avLst/>
          </a:prstGeom>
          <a:solidFill>
            <a:srgbClr val="111D40"/>
          </a:solidFill>
          <a:ln w="19050">
            <a:solidFill>
              <a:srgbClr val="4DFF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7727598-9865-8BCC-BB86-74FE74DF2391}"/>
              </a:ext>
            </a:extLst>
          </p:cNvPr>
          <p:cNvSpPr/>
          <p:nvPr/>
        </p:nvSpPr>
        <p:spPr>
          <a:xfrm>
            <a:off x="182880" y="1273232"/>
            <a:ext cx="2743200" cy="347472"/>
          </a:xfrm>
          <a:prstGeom prst="rect">
            <a:avLst/>
          </a:prstGeom>
          <a:solidFill>
            <a:srgbClr val="4DFFA6">
              <a:alpha val="25000"/>
            </a:srgbClr>
          </a:solidFill>
          <a:ln w="12700">
            <a:solidFill>
              <a:srgbClr val="4DFFA6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628C71F-46A1-E561-680E-89D081D80C46}"/>
              </a:ext>
            </a:extLst>
          </p:cNvPr>
          <p:cNvSpPr/>
          <p:nvPr/>
        </p:nvSpPr>
        <p:spPr>
          <a:xfrm>
            <a:off x="274320" y="12732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FFA6"/>
                </a:solidFill>
              </a:rPr>
              <a:t>What is LVS?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D8200AF-12A2-2657-5936-E6726D0E56B8}"/>
              </a:ext>
            </a:extLst>
          </p:cNvPr>
          <p:cNvSpPr/>
          <p:nvPr/>
        </p:nvSpPr>
        <p:spPr>
          <a:xfrm>
            <a:off x="274320" y="1666424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LVS compares the extracted netlist from the physical layout against the original schematic netlist to confirm they are electrically identical.</a:t>
            </a:r>
            <a:endParaRPr lang="en-US" sz="1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8D685FD-93BF-F5FF-B644-5E9DCD351B3C}"/>
              </a:ext>
            </a:extLst>
          </p:cNvPr>
          <p:cNvSpPr/>
          <p:nvPr/>
        </p:nvSpPr>
        <p:spPr>
          <a:xfrm>
            <a:off x="3154680" y="1273232"/>
            <a:ext cx="2743200" cy="1188720"/>
          </a:xfrm>
          <a:prstGeom prst="rect">
            <a:avLst/>
          </a:prstGeom>
          <a:solidFill>
            <a:srgbClr val="111D40"/>
          </a:solidFill>
          <a:ln w="1905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A85007E-4F02-ABBA-AEE9-FE9AF8C68B47}"/>
              </a:ext>
            </a:extLst>
          </p:cNvPr>
          <p:cNvSpPr/>
          <p:nvPr/>
        </p:nvSpPr>
        <p:spPr>
          <a:xfrm>
            <a:off x="3154680" y="1273232"/>
            <a:ext cx="2743200" cy="347472"/>
          </a:xfrm>
          <a:prstGeom prst="rect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850AFBB-7258-B224-3630-A4B237C74B82}"/>
              </a:ext>
            </a:extLst>
          </p:cNvPr>
          <p:cNvSpPr/>
          <p:nvPr/>
        </p:nvSpPr>
        <p:spPr>
          <a:xfrm>
            <a:off x="3246120" y="12732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</a:rPr>
              <a:t>Tool Used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1ECECA7-55A6-14FF-80CF-16367DA6EE61}"/>
              </a:ext>
            </a:extLst>
          </p:cNvPr>
          <p:cNvSpPr/>
          <p:nvPr/>
        </p:nvSpPr>
        <p:spPr>
          <a:xfrm>
            <a:off x="3246120" y="1666424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Cadence Virtuoso </a:t>
            </a:r>
            <a:r>
              <a:rPr lang="en-US" sz="1000" dirty="0" err="1">
                <a:solidFill>
                  <a:srgbClr val="FFFFFF"/>
                </a:solidFill>
              </a:rPr>
              <a:t>Calibre</a:t>
            </a:r>
            <a:r>
              <a:rPr lang="en-US" sz="1000" dirty="0">
                <a:solidFill>
                  <a:srgbClr val="FFFFFF"/>
                </a:solidFill>
              </a:rPr>
              <a:t> LVS was used to run the netlist comparison on the 4-stage CMOS inverter delay line circuit.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9A3D87C-E9AB-CD81-95EF-EF69085AC400}"/>
              </a:ext>
            </a:extLst>
          </p:cNvPr>
          <p:cNvSpPr/>
          <p:nvPr/>
        </p:nvSpPr>
        <p:spPr>
          <a:xfrm>
            <a:off x="6126480" y="1273232"/>
            <a:ext cx="2743200" cy="1188720"/>
          </a:xfrm>
          <a:prstGeom prst="rect">
            <a:avLst/>
          </a:prstGeom>
          <a:solidFill>
            <a:srgbClr val="111D40"/>
          </a:solidFill>
          <a:ln w="1905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46C768F-3BFE-C70A-6A68-1B32E6002E7D}"/>
              </a:ext>
            </a:extLst>
          </p:cNvPr>
          <p:cNvSpPr/>
          <p:nvPr/>
        </p:nvSpPr>
        <p:spPr>
          <a:xfrm>
            <a:off x="6126480" y="1273232"/>
            <a:ext cx="2743200" cy="347472"/>
          </a:xfrm>
          <a:prstGeom prst="rect">
            <a:avLst/>
          </a:prstGeom>
          <a:solidFill>
            <a:srgbClr val="FFB800">
              <a:alpha val="25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6807383-AAAB-9822-D870-21F712D51463}"/>
              </a:ext>
            </a:extLst>
          </p:cNvPr>
          <p:cNvSpPr/>
          <p:nvPr/>
        </p:nvSpPr>
        <p:spPr>
          <a:xfrm>
            <a:off x="6217920" y="12732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800"/>
                </a:solidFill>
              </a:rPr>
              <a:t>LVS Result</a:t>
            </a: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678BB3D-2797-11F5-A2F8-D074E2C0A976}"/>
              </a:ext>
            </a:extLst>
          </p:cNvPr>
          <p:cNvSpPr/>
          <p:nvPr/>
        </p:nvSpPr>
        <p:spPr>
          <a:xfrm>
            <a:off x="6217920" y="1666424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LVS passed with zero discrepancies — the layout is confirmed to be a correct physical implementation of the schematic design.</a:t>
            </a:r>
            <a:endParaRPr lang="en-US" sz="1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15AE703-C8E8-5210-3DFD-63F740A1A87F}"/>
              </a:ext>
            </a:extLst>
          </p:cNvPr>
          <p:cNvSpPr/>
          <p:nvPr/>
        </p:nvSpPr>
        <p:spPr>
          <a:xfrm>
            <a:off x="182880" y="2859579"/>
            <a:ext cx="8686800" cy="347472"/>
          </a:xfrm>
          <a:prstGeom prst="rect">
            <a:avLst/>
          </a:prstGeom>
          <a:solidFill>
            <a:srgbClr val="0D204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C9C1177-F755-8DA9-E747-7332C6B7BABB}"/>
              </a:ext>
            </a:extLst>
          </p:cNvPr>
          <p:cNvSpPr/>
          <p:nvPr/>
        </p:nvSpPr>
        <p:spPr>
          <a:xfrm>
            <a:off x="274320" y="2859579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FFA6"/>
                </a:solidFill>
              </a:rPr>
              <a:t>LVS Verification Flow</a:t>
            </a:r>
            <a:endParaRPr lang="en-US" sz="12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5E7DCD9-0DE9-329F-EECD-F8BFCE46E01F}"/>
              </a:ext>
            </a:extLst>
          </p:cNvPr>
          <p:cNvSpPr/>
          <p:nvPr/>
        </p:nvSpPr>
        <p:spPr>
          <a:xfrm>
            <a:off x="320040" y="3517669"/>
            <a:ext cx="1828800" cy="685800"/>
          </a:xfrm>
          <a:prstGeom prst="rect">
            <a:avLst/>
          </a:prstGeom>
          <a:solidFill>
            <a:srgbClr val="111D40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505E9F8-C762-DB37-DBF7-A16BA8CDF468}"/>
              </a:ext>
            </a:extLst>
          </p:cNvPr>
          <p:cNvSpPr/>
          <p:nvPr/>
        </p:nvSpPr>
        <p:spPr>
          <a:xfrm>
            <a:off x="320040" y="3517669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FF"/>
                </a:solidFill>
              </a:rPr>
              <a:t>Schematic Netlist</a:t>
            </a:r>
            <a:endParaRPr lang="en-US" sz="10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F79F8FA0-CA6E-5101-CEBA-22A972A65FFE}"/>
              </a:ext>
            </a:extLst>
          </p:cNvPr>
          <p:cNvSpPr/>
          <p:nvPr/>
        </p:nvSpPr>
        <p:spPr>
          <a:xfrm>
            <a:off x="2148840" y="3855997"/>
            <a:ext cx="320040" cy="0"/>
          </a:xfrm>
          <a:prstGeom prst="line">
            <a:avLst/>
          </a:prstGeom>
          <a:noFill/>
          <a:ln w="19050">
            <a:solidFill>
              <a:srgbClr val="8A9BBF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64873F10-B359-D7F2-3CC2-7D1DFA062232}"/>
              </a:ext>
            </a:extLst>
          </p:cNvPr>
          <p:cNvSpPr/>
          <p:nvPr/>
        </p:nvSpPr>
        <p:spPr>
          <a:xfrm>
            <a:off x="2468880" y="3517669"/>
            <a:ext cx="1828800" cy="685800"/>
          </a:xfrm>
          <a:prstGeom prst="rect">
            <a:avLst/>
          </a:prstGeom>
          <a:solidFill>
            <a:srgbClr val="111D40"/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5E629B3-87D3-3633-72FE-8A0306CC306A}"/>
              </a:ext>
            </a:extLst>
          </p:cNvPr>
          <p:cNvSpPr/>
          <p:nvPr/>
        </p:nvSpPr>
        <p:spPr>
          <a:xfrm>
            <a:off x="2468880" y="3517669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800"/>
                </a:solidFill>
              </a:rPr>
              <a:t>Layout Extraction</a:t>
            </a:r>
            <a:endParaRPr lang="en-US" sz="10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C1DAD23-0383-7872-E6B0-6B078A1E0D69}"/>
              </a:ext>
            </a:extLst>
          </p:cNvPr>
          <p:cNvSpPr/>
          <p:nvPr/>
        </p:nvSpPr>
        <p:spPr>
          <a:xfrm>
            <a:off x="4297680" y="3855997"/>
            <a:ext cx="320040" cy="0"/>
          </a:xfrm>
          <a:prstGeom prst="line">
            <a:avLst/>
          </a:prstGeom>
          <a:noFill/>
          <a:ln w="19050">
            <a:solidFill>
              <a:srgbClr val="8A9BBF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6CB5C14A-1055-8DD7-9317-476E94773576}"/>
              </a:ext>
            </a:extLst>
          </p:cNvPr>
          <p:cNvSpPr/>
          <p:nvPr/>
        </p:nvSpPr>
        <p:spPr>
          <a:xfrm>
            <a:off x="4617720" y="3517669"/>
            <a:ext cx="1828800" cy="685800"/>
          </a:xfrm>
          <a:prstGeom prst="rect">
            <a:avLst/>
          </a:prstGeom>
          <a:solidFill>
            <a:srgbClr val="111D40"/>
          </a:solidFill>
          <a:ln w="19050">
            <a:solidFill>
              <a:srgbClr val="4DFFA6"/>
            </a:solidFill>
            <a:prstDash val="solid"/>
          </a:ln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7EE8540-028F-D4CA-E81F-9E6225308AD4}"/>
              </a:ext>
            </a:extLst>
          </p:cNvPr>
          <p:cNvSpPr/>
          <p:nvPr/>
        </p:nvSpPr>
        <p:spPr>
          <a:xfrm>
            <a:off x="4617720" y="3517669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DFFA6"/>
                </a:solidFill>
              </a:rPr>
              <a:t>Netlist Comparison</a:t>
            </a:r>
            <a:endParaRPr lang="en-US" sz="10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E9C5C40B-4305-C733-CFFD-02581190BD30}"/>
              </a:ext>
            </a:extLst>
          </p:cNvPr>
          <p:cNvSpPr/>
          <p:nvPr/>
        </p:nvSpPr>
        <p:spPr>
          <a:xfrm>
            <a:off x="6446520" y="3855997"/>
            <a:ext cx="320040" cy="0"/>
          </a:xfrm>
          <a:prstGeom prst="line">
            <a:avLst/>
          </a:prstGeom>
          <a:noFill/>
          <a:ln w="19050">
            <a:solidFill>
              <a:srgbClr val="8A9BBF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226EA581-B598-3D6C-2AFF-76490C18AB2E}"/>
              </a:ext>
            </a:extLst>
          </p:cNvPr>
          <p:cNvSpPr/>
          <p:nvPr/>
        </p:nvSpPr>
        <p:spPr>
          <a:xfrm>
            <a:off x="6766560" y="3517669"/>
            <a:ext cx="1828800" cy="685800"/>
          </a:xfrm>
          <a:prstGeom prst="rect">
            <a:avLst/>
          </a:prstGeom>
          <a:solidFill>
            <a:srgbClr val="111D40"/>
          </a:solidFill>
          <a:ln w="19050">
            <a:solidFill>
              <a:srgbClr val="4DFFA6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D363519B-5DE7-E269-FC89-ED88582C385C}"/>
              </a:ext>
            </a:extLst>
          </p:cNvPr>
          <p:cNvSpPr/>
          <p:nvPr/>
        </p:nvSpPr>
        <p:spPr>
          <a:xfrm>
            <a:off x="6766560" y="3517669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DFFA6"/>
                </a:solidFill>
              </a:rPr>
              <a:t>LVS CLEAN ✓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53310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4DFFA6"/>
          </a:solidFill>
          <a:ln w="12700">
            <a:solidFill>
              <a:srgbClr val="4DFF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DFFA6"/>
                </a:solidFill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LVS — Layout Versus Schematic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228600" y="1039090"/>
            <a:ext cx="8686800" cy="4045528"/>
          </a:xfrm>
          <a:prstGeom prst="rect">
            <a:avLst/>
          </a:prstGeom>
          <a:solidFill>
            <a:srgbClr val="111D40"/>
          </a:solidFill>
          <a:ln w="12700">
            <a:solidFill>
              <a:srgbClr val="4DFF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28600" y="1039090"/>
            <a:ext cx="8686800" cy="32004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103909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FFA6"/>
                </a:solidFill>
              </a:rPr>
              <a:t>LVS Result</a:t>
            </a:r>
            <a:endParaRPr lang="en-US" sz="12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8FEB964-D2F4-3020-EC7E-6DDA19154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04" y="1359130"/>
            <a:ext cx="7530191" cy="368284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Parasitic Extraction (PEX) — Setup &amp; Results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071532" y="960120"/>
            <a:ext cx="513311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71532" y="960120"/>
            <a:ext cx="513311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62972" y="960120"/>
            <a:ext cx="4904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800"/>
                </a:solidFill>
              </a:rPr>
              <a:t>PEX Setup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90403" y="1417320"/>
            <a:ext cx="19391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40"/>
                </a:solidFill>
              </a:rPr>
              <a:t>Tool: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81460" y="1417320"/>
            <a:ext cx="2851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A"/>
                </a:solidFill>
              </a:rPr>
              <a:t>Cadence </a:t>
            </a:r>
            <a:r>
              <a:rPr lang="en-US" sz="1100" dirty="0" err="1">
                <a:solidFill>
                  <a:srgbClr val="3A4A6A"/>
                </a:solidFill>
              </a:rPr>
              <a:t>Calibre</a:t>
            </a:r>
            <a:r>
              <a:rPr lang="en-US" sz="1100" dirty="0">
                <a:solidFill>
                  <a:srgbClr val="3A4A6A"/>
                </a:solidFill>
              </a:rPr>
              <a:t> / Quantus PEX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62972" y="1856232"/>
            <a:ext cx="4676834" cy="0"/>
          </a:xfrm>
          <a:prstGeom prst="line">
            <a:avLst/>
          </a:prstGeom>
          <a:noFill/>
          <a:ln w="6350">
            <a:solidFill>
              <a:srgbClr val="E8EE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0403" y="1947672"/>
            <a:ext cx="19391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40"/>
                </a:solidFill>
              </a:rPr>
              <a:t>Extraction Type: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81460" y="1947672"/>
            <a:ext cx="2851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A"/>
                </a:solidFill>
              </a:rPr>
              <a:t>RC Extraction (Resistance + Capacitance)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62972" y="2386584"/>
            <a:ext cx="4676834" cy="0"/>
          </a:xfrm>
          <a:prstGeom prst="line">
            <a:avLst/>
          </a:prstGeom>
          <a:noFill/>
          <a:ln w="6350">
            <a:solidFill>
              <a:srgbClr val="E8EE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0403" y="2478024"/>
            <a:ext cx="19391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40"/>
                </a:solidFill>
              </a:rPr>
              <a:t>Technology File: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81460" y="2478024"/>
            <a:ext cx="2851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A"/>
                </a:solidFill>
              </a:rPr>
              <a:t>TSMC 65nm process corner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62972" y="2916936"/>
            <a:ext cx="4676834" cy="0"/>
          </a:xfrm>
          <a:prstGeom prst="line">
            <a:avLst/>
          </a:prstGeom>
          <a:noFill/>
          <a:ln w="6350">
            <a:solidFill>
              <a:srgbClr val="E8EE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90403" y="3008376"/>
            <a:ext cx="19391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40"/>
                </a:solidFill>
              </a:rPr>
              <a:t>Input: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81460" y="3008376"/>
            <a:ext cx="2851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A"/>
                </a:solidFill>
              </a:rPr>
              <a:t>Verified LVS-clean layout database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62972" y="3447288"/>
            <a:ext cx="4676834" cy="0"/>
          </a:xfrm>
          <a:prstGeom prst="line">
            <a:avLst/>
          </a:prstGeom>
          <a:noFill/>
          <a:ln w="6350">
            <a:solidFill>
              <a:srgbClr val="E8EE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90403" y="3538728"/>
            <a:ext cx="19391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40"/>
                </a:solidFill>
              </a:rPr>
              <a:t>Output: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81460" y="3538728"/>
            <a:ext cx="2851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A"/>
                </a:solidFill>
              </a:rPr>
              <a:t>Post-layout netlist with parasitics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162972" y="3977640"/>
            <a:ext cx="4676834" cy="0"/>
          </a:xfrm>
          <a:prstGeom prst="line">
            <a:avLst/>
          </a:prstGeom>
          <a:noFill/>
          <a:ln w="6350">
            <a:solidFill>
              <a:srgbClr val="E8EE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0403" y="4069080"/>
            <a:ext cx="19391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40"/>
                </a:solidFill>
              </a:rPr>
              <a:t>Purpose: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81460" y="4069080"/>
            <a:ext cx="2851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A"/>
                </a:solidFill>
              </a:rPr>
              <a:t>Accurate post-layout simulation input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5F6D4D-1613-47CD-633D-AC189F119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FBA5A10-18E0-FF15-C677-D333A17FE97C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7165561-6640-24C3-4988-2DB043163FE5}"/>
              </a:ext>
            </a:extLst>
          </p:cNvPr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FB39D42-132A-93BA-5681-46A08A80B0A7}"/>
              </a:ext>
            </a:extLst>
          </p:cNvPr>
          <p:cNvSpPr/>
          <p:nvPr/>
        </p:nvSpPr>
        <p:spPr>
          <a:xfrm>
            <a:off x="182880" y="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</a:rPr>
              <a:t>07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EA2F87E-8888-0446-E241-29C754C83379}"/>
              </a:ext>
            </a:extLst>
          </p:cNvPr>
          <p:cNvSpPr/>
          <p:nvPr/>
        </p:nvSpPr>
        <p:spPr>
          <a:xfrm>
            <a:off x="777240" y="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Parasitic Extraction (PEX) — Setup &amp; Results</a:t>
            </a:r>
            <a:endParaRPr lang="en-US" sz="24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7FB4BEF8-2754-285F-D790-53D73F2F9496}"/>
              </a:ext>
            </a:extLst>
          </p:cNvPr>
          <p:cNvSpPr/>
          <p:nvPr/>
        </p:nvSpPr>
        <p:spPr>
          <a:xfrm>
            <a:off x="594360" y="886968"/>
            <a:ext cx="7974676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2C20A5CC-07D2-9CA8-D63D-2105A198F797}"/>
              </a:ext>
            </a:extLst>
          </p:cNvPr>
          <p:cNvSpPr/>
          <p:nvPr/>
        </p:nvSpPr>
        <p:spPr>
          <a:xfrm>
            <a:off x="594360" y="886968"/>
            <a:ext cx="7974676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E7DCEE3-C85A-C444-5E43-B4358CDB7B0E}"/>
              </a:ext>
            </a:extLst>
          </p:cNvPr>
          <p:cNvSpPr/>
          <p:nvPr/>
        </p:nvSpPr>
        <p:spPr>
          <a:xfrm>
            <a:off x="685800" y="886968"/>
            <a:ext cx="48296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800"/>
                </a:solidFill>
              </a:rPr>
              <a:t>PEX Results &amp; Extracted View</a:t>
            </a:r>
            <a:endParaRPr lang="en-US" sz="13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02DD29C-FAE7-46F7-8084-DA364140F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322" y="1335024"/>
            <a:ext cx="7648752" cy="33131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8180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30202D-1DC4-18EE-94EC-DAC7520FA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BFC921E-6EE4-794B-F4F0-649FE0B0492D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8404AA5-2329-1FFE-DF94-2FBA1CA11796}"/>
              </a:ext>
            </a:extLst>
          </p:cNvPr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D2EADE2-A954-39CC-F21C-5A0151D4DBD3}"/>
              </a:ext>
            </a:extLst>
          </p:cNvPr>
          <p:cNvSpPr/>
          <p:nvPr/>
        </p:nvSpPr>
        <p:spPr>
          <a:xfrm>
            <a:off x="182880" y="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</a:rPr>
              <a:t>07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C245000-437D-A7C5-7F86-987A2081F76E}"/>
              </a:ext>
            </a:extLst>
          </p:cNvPr>
          <p:cNvSpPr/>
          <p:nvPr/>
        </p:nvSpPr>
        <p:spPr>
          <a:xfrm>
            <a:off x="777240" y="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Parasitic Extraction (PEX) — Setup &amp; Results</a:t>
            </a:r>
            <a:endParaRPr lang="en-US" sz="24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3934678A-0BE7-82E1-064B-C2D34C2DEFB0}"/>
              </a:ext>
            </a:extLst>
          </p:cNvPr>
          <p:cNvSpPr/>
          <p:nvPr/>
        </p:nvSpPr>
        <p:spPr>
          <a:xfrm>
            <a:off x="594360" y="886968"/>
            <a:ext cx="7974676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8CC116EB-02FF-AD4C-DBC1-A4AD48C69F2B}"/>
              </a:ext>
            </a:extLst>
          </p:cNvPr>
          <p:cNvSpPr/>
          <p:nvPr/>
        </p:nvSpPr>
        <p:spPr>
          <a:xfrm>
            <a:off x="594360" y="886968"/>
            <a:ext cx="7974676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C455523D-DDB7-39D7-9114-C3C21B0F6ADA}"/>
              </a:ext>
            </a:extLst>
          </p:cNvPr>
          <p:cNvSpPr/>
          <p:nvPr/>
        </p:nvSpPr>
        <p:spPr>
          <a:xfrm>
            <a:off x="685800" y="886968"/>
            <a:ext cx="48296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800"/>
                </a:solidFill>
              </a:rPr>
              <a:t>PEX Results &amp; Extracted View</a:t>
            </a:r>
            <a:endParaRPr lang="en-US" sz="13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59F04A-E3A4-7E97-FFFD-D4A27CB13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22900"/>
            <a:ext cx="7676230" cy="329759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787032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30202D-1DC4-18EE-94EC-DAC7520FA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BFC921E-6EE4-794B-F4F0-649FE0B0492D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8404AA5-2329-1FFE-DF94-2FBA1CA11796}"/>
              </a:ext>
            </a:extLst>
          </p:cNvPr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D2EADE2-A954-39CC-F21C-5A0151D4DBD3}"/>
              </a:ext>
            </a:extLst>
          </p:cNvPr>
          <p:cNvSpPr/>
          <p:nvPr/>
        </p:nvSpPr>
        <p:spPr>
          <a:xfrm>
            <a:off x="182880" y="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</a:rPr>
              <a:t>07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C245000-437D-A7C5-7F86-987A2081F76E}"/>
              </a:ext>
            </a:extLst>
          </p:cNvPr>
          <p:cNvSpPr/>
          <p:nvPr/>
        </p:nvSpPr>
        <p:spPr>
          <a:xfrm>
            <a:off x="777240" y="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Schematic Symbol Used in Testbench</a:t>
            </a:r>
            <a:endParaRPr lang="en-US" sz="24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3934678A-0BE7-82E1-064B-C2D34C2DEFB0}"/>
              </a:ext>
            </a:extLst>
          </p:cNvPr>
          <p:cNvSpPr/>
          <p:nvPr/>
        </p:nvSpPr>
        <p:spPr>
          <a:xfrm>
            <a:off x="594360" y="886968"/>
            <a:ext cx="7974676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8CC116EB-02FF-AD4C-DBC1-A4AD48C69F2B}"/>
              </a:ext>
            </a:extLst>
          </p:cNvPr>
          <p:cNvSpPr/>
          <p:nvPr/>
        </p:nvSpPr>
        <p:spPr>
          <a:xfrm>
            <a:off x="594360" y="886968"/>
            <a:ext cx="7974676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C455523D-DDB7-39D7-9114-C3C21B0F6ADA}"/>
              </a:ext>
            </a:extLst>
          </p:cNvPr>
          <p:cNvSpPr/>
          <p:nvPr/>
        </p:nvSpPr>
        <p:spPr>
          <a:xfrm>
            <a:off x="685800" y="886968"/>
            <a:ext cx="48296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F6D339-9B7D-4647-9707-B294A708A23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" y="1271016"/>
            <a:ext cx="7955280" cy="3502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54296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Post-Layout Simulation &amp; Performance Comparison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5029200" cy="2743200"/>
          </a:xfrm>
          <a:prstGeom prst="rect">
            <a:avLst/>
          </a:prstGeom>
          <a:solidFill>
            <a:srgbClr val="111D40"/>
          </a:solidFill>
          <a:ln w="1905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14400"/>
            <a:ext cx="5029200" cy="36576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14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</a:rPr>
              <a:t>Post-Layout Transient Waveform — Vin vs Vout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0" y="914400"/>
            <a:ext cx="3383280" cy="594360"/>
          </a:xfrm>
          <a:prstGeom prst="rect">
            <a:avLst/>
          </a:prstGeom>
          <a:solidFill>
            <a:srgbClr val="111D40"/>
          </a:solidFill>
          <a:ln w="19050">
            <a:solidFill>
              <a:srgbClr val="4DFF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0" y="914400"/>
            <a:ext cx="457200" cy="594360"/>
          </a:xfrm>
          <a:prstGeom prst="rect">
            <a:avLst/>
          </a:prstGeom>
          <a:solidFill>
            <a:srgbClr val="4DFFA6">
              <a:alpha val="70000"/>
            </a:srgbClr>
          </a:solidFill>
          <a:ln w="12700">
            <a:solidFill>
              <a:srgbClr val="4DFF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9144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0F1E"/>
                </a:solidFill>
              </a:rPr>
              <a:t>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16752" y="9418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F"/>
                </a:solidFill>
              </a:rPr>
              <a:t>Rising Time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16752" y="1170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DFFA6"/>
                </a:solidFill>
              </a:rPr>
              <a:t>475.2 ps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0" y="1600200"/>
            <a:ext cx="3383280" cy="594360"/>
          </a:xfrm>
          <a:prstGeom prst="rect">
            <a:avLst/>
          </a:prstGeom>
          <a:solidFill>
            <a:srgbClr val="111D40"/>
          </a:solidFill>
          <a:ln w="1905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0" y="1600200"/>
            <a:ext cx="457200" cy="594360"/>
          </a:xfrm>
          <a:prstGeom prst="rect">
            <a:avLst/>
          </a:prstGeom>
          <a:solidFill>
            <a:srgbClr val="FF6B6B">
              <a:alpha val="7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16002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0F1E"/>
                </a:solidFill>
              </a:rPr>
              <a:t>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16752" y="1627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F"/>
                </a:solidFill>
              </a:rPr>
              <a:t>Falling Time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16752" y="18562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6B"/>
                </a:solidFill>
              </a:rPr>
              <a:t>481.7 ps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0" y="2286000"/>
            <a:ext cx="3383280" cy="594360"/>
          </a:xfrm>
          <a:prstGeom prst="rect">
            <a:avLst/>
          </a:prstGeom>
          <a:solidFill>
            <a:srgbClr val="111D40"/>
          </a:solidFill>
          <a:ln w="1905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0" y="2286000"/>
            <a:ext cx="457200" cy="594360"/>
          </a:xfrm>
          <a:prstGeom prst="rect">
            <a:avLst/>
          </a:prstGeom>
          <a:solidFill>
            <a:srgbClr val="FFB800">
              <a:alpha val="7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2860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0F1E"/>
                </a:solidFill>
              </a:rPr>
              <a:t>⏱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16752" y="2313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F"/>
                </a:solidFill>
              </a:rPr>
              <a:t>Propagation Delay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16752" y="25420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</a:rPr>
              <a:t>478.4 ps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0" y="2971800"/>
            <a:ext cx="3383280" cy="594360"/>
          </a:xfrm>
          <a:prstGeom prst="rect">
            <a:avLst/>
          </a:prstGeom>
          <a:solidFill>
            <a:srgbClr val="111D40"/>
          </a:solidFill>
          <a:ln w="19050">
            <a:solidFill>
              <a:srgbClr val="BB86F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0" y="2971800"/>
            <a:ext cx="457200" cy="594360"/>
          </a:xfrm>
          <a:prstGeom prst="rect">
            <a:avLst/>
          </a:prstGeom>
          <a:solidFill>
            <a:srgbClr val="BB86FC">
              <a:alpha val="70000"/>
            </a:srgbClr>
          </a:solidFill>
          <a:ln w="12700">
            <a:solidFill>
              <a:srgbClr val="BB86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29718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0F1E"/>
                </a:solidFill>
              </a:rPr>
              <a:t>⚡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016752" y="29992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F"/>
                </a:solidFill>
              </a:rPr>
              <a:t>Avg. Power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16752" y="32278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B86FC"/>
                </a:solidFill>
              </a:rPr>
              <a:t>14.82 µW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228600" y="3749040"/>
            <a:ext cx="8686800" cy="1143000"/>
          </a:xfrm>
          <a:prstGeom prst="rect">
            <a:avLst/>
          </a:prstGeom>
          <a:solidFill>
            <a:srgbClr val="111D40"/>
          </a:solidFill>
          <a:ln w="12700">
            <a:solidFill>
              <a:srgbClr val="1E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28600" y="3749040"/>
            <a:ext cx="8686800" cy="347472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7490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</a:rPr>
              <a:t>Pre-Layout vs Post-Layout Comparison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74320" y="4133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9BBF"/>
                </a:solidFill>
              </a:rPr>
              <a:t>Parameter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926080" y="4133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9BBF"/>
                </a:solidFill>
              </a:rPr>
              <a:t>Pre-Layout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12080" y="4133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9BBF"/>
                </a:solidFill>
              </a:rPr>
              <a:t>Post-Layout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15200" y="4133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9BBF"/>
                </a:solidFill>
              </a:rPr>
              <a:t>Difference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4320" y="44348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Propagation Delay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926080" y="44348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DFFA6"/>
                </a:solidFill>
              </a:rPr>
              <a:t>~Ideal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212080" y="44348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800"/>
                </a:solidFill>
              </a:rPr>
              <a:t>478.4 ps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315200" y="44348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6B"/>
                </a:solidFill>
              </a:rPr>
              <a:t>Due to RC parasitics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74320" y="46542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Power Consumption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926080" y="46542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DFFA6"/>
                </a:solidFill>
              </a:rPr>
              <a:t>~Ideal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212080" y="46542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800"/>
                </a:solidFill>
              </a:rPr>
              <a:t>14.82 µW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315200" y="46542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6B"/>
                </a:solidFill>
              </a:rPr>
              <a:t>Slight increase</a:t>
            </a:r>
            <a:endParaRPr lang="en-US" sz="95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6EA7E774-BBB9-FAE2-92C7-C145FE9707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546" r="1221"/>
          <a:stretch>
            <a:fillRect/>
          </a:stretch>
        </p:blipFill>
        <p:spPr>
          <a:xfrm>
            <a:off x="274320" y="1298448"/>
            <a:ext cx="4937760" cy="235915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35D0BF-29BB-DCFF-78AF-FCFD199DD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6B932C4-A1E5-F242-38A4-2BB360CBEDA1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48735F8-8C27-D325-72B5-8FA21C5A4C5D}"/>
              </a:ext>
            </a:extLst>
          </p:cNvPr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297B1FE-68D1-DCB0-426F-4E9C7B71812B}"/>
              </a:ext>
            </a:extLst>
          </p:cNvPr>
          <p:cNvSpPr/>
          <p:nvPr/>
        </p:nvSpPr>
        <p:spPr>
          <a:xfrm>
            <a:off x="182880" y="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</a:rPr>
              <a:t>08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D931EF3-19AB-BA69-2D87-939A20959996}"/>
              </a:ext>
            </a:extLst>
          </p:cNvPr>
          <p:cNvSpPr/>
          <p:nvPr/>
        </p:nvSpPr>
        <p:spPr>
          <a:xfrm>
            <a:off x="777240" y="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CALCULATIONS</a:t>
            </a:r>
            <a:endParaRPr lang="en-US" sz="22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EE8BB100-382D-1EDC-4C89-3852DA034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" y="1101722"/>
            <a:ext cx="8922327" cy="328324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149677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BB86FC"/>
          </a:solidFill>
          <a:ln w="12700">
            <a:solidFill>
              <a:srgbClr val="BB86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B86FC"/>
                </a:solidFill>
              </a:rPr>
              <a:t>09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Discussion &amp; Conclusions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228600" y="960120"/>
            <a:ext cx="4206240" cy="1234440"/>
          </a:xfrm>
          <a:prstGeom prst="rect">
            <a:avLst/>
          </a:prstGeom>
          <a:solidFill>
            <a:srgbClr val="111D40"/>
          </a:solidFill>
          <a:ln w="1905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960120"/>
            <a:ext cx="457200" cy="1234440"/>
          </a:xfrm>
          <a:prstGeom prst="rect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96012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1E"/>
                </a:solidFill>
              </a:rPr>
              <a:t>01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8952" y="100584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</a:rPr>
              <a:t>Successful Full IC Design Flow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58952" y="135331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The complete analog/digital IC design flow was successfully executed: schematic → simulation → layout → DRC → LVS → PEX → post-layout simulation.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2331720"/>
            <a:ext cx="4206240" cy="1234440"/>
          </a:xfrm>
          <a:prstGeom prst="rect">
            <a:avLst/>
          </a:prstGeom>
          <a:solidFill>
            <a:srgbClr val="111D40"/>
          </a:solidFill>
          <a:ln w="19050">
            <a:solidFill>
              <a:srgbClr val="4DFF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2331720"/>
            <a:ext cx="457200" cy="1234440"/>
          </a:xfrm>
          <a:prstGeom prst="rect">
            <a:avLst/>
          </a:prstGeom>
          <a:solidFill>
            <a:srgbClr val="4DFFA6">
              <a:alpha val="80000"/>
            </a:srgbClr>
          </a:solidFill>
          <a:ln w="12700">
            <a:solidFill>
              <a:srgbClr val="4DFF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233172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1E"/>
                </a:solidFill>
              </a:rPr>
              <a:t>02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58952" y="237744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DFFA6"/>
                </a:solidFill>
              </a:rPr>
              <a:t>DRC Errors Identified &amp; Resolved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8952" y="272491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Four DRC violations were identified and resolved: missing N-Well, NP coverage gaps, poly-metal connection outside NP, and missing pin labels.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" y="3703320"/>
            <a:ext cx="4206240" cy="1234440"/>
          </a:xfrm>
          <a:prstGeom prst="rect">
            <a:avLst/>
          </a:prstGeom>
          <a:solidFill>
            <a:srgbClr val="111D40"/>
          </a:solidFill>
          <a:ln w="1905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3703320"/>
            <a:ext cx="457200" cy="1234440"/>
          </a:xfrm>
          <a:prstGeom prst="rect">
            <a:avLst/>
          </a:prstGeom>
          <a:solidFill>
            <a:srgbClr val="FFB800">
              <a:alpha val="8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370332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1E"/>
                </a:solidFill>
              </a:rPr>
              <a:t>03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58952" y="374904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</a:rPr>
              <a:t>LVS — Layout Matches Schematic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58952" y="409651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LVS verification confirmed a perfect match between the physical layout and the original schematic, with zero discrepancies found.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00600" y="960120"/>
            <a:ext cx="4206240" cy="1234440"/>
          </a:xfrm>
          <a:prstGeom prst="rect">
            <a:avLst/>
          </a:prstGeom>
          <a:solidFill>
            <a:srgbClr val="111D40"/>
          </a:solidFill>
          <a:ln w="19050">
            <a:solidFill>
              <a:srgbClr val="BB86F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960120"/>
            <a:ext cx="457200" cy="1234440"/>
          </a:xfrm>
          <a:prstGeom prst="rect">
            <a:avLst/>
          </a:prstGeom>
          <a:solidFill>
            <a:srgbClr val="BB86FC">
              <a:alpha val="80000"/>
            </a:srgbClr>
          </a:solidFill>
          <a:ln w="12700">
            <a:solidFill>
              <a:srgbClr val="BB86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96012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1E"/>
                </a:solidFill>
              </a:rPr>
              <a:t>04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30952" y="100584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B86FC"/>
                </a:solidFill>
              </a:rPr>
              <a:t>Parasitic Impact on Performance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30952" y="135331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Post-layout simulation revealed the effect of parasitic RC elements: propagation delay = 478.4 ps, average power = 14.82 µW — consistent with expected parasitics in 65nm technology.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00600" y="2331720"/>
            <a:ext cx="4206240" cy="1234440"/>
          </a:xfrm>
          <a:prstGeom prst="rect">
            <a:avLst/>
          </a:prstGeom>
          <a:solidFill>
            <a:srgbClr val="111D40"/>
          </a:solidFill>
          <a:ln w="1905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00600" y="2331720"/>
            <a:ext cx="457200" cy="1234440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233172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1E"/>
                </a:solidFill>
              </a:rPr>
              <a:t>05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30952" y="237744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</a:rPr>
              <a:t>Key Learning Outcomes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30952" y="272491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Practical experience gained in Cadence Virtuoso, TSMC 65nm DRC rules, layout matching techniques, and the impact of physical implementation on circuit performance.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"/>
            <a:ext cx="9144000" cy="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9536"/>
            <a:ext cx="9144000" cy="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9304"/>
            <a:ext cx="9144000" cy="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19072"/>
            <a:ext cx="9144000" cy="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8608"/>
            <a:ext cx="9144000" cy="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08376"/>
            <a:ext cx="9144000" cy="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438144"/>
            <a:ext cx="9144000" cy="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67912"/>
            <a:ext cx="9144000" cy="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727448"/>
            <a:ext cx="9144000" cy="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7180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6052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4924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2668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15400" y="0"/>
            <a:ext cx="0" cy="5143500"/>
          </a:xfrm>
          <a:prstGeom prst="line">
            <a:avLst/>
          </a:prstGeom>
          <a:noFill/>
          <a:ln w="6350">
            <a:solidFill>
              <a:srgbClr val="1A28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4592" y="5088636"/>
            <a:ext cx="8979408" cy="54864"/>
          </a:xfrm>
          <a:prstGeom prst="rect">
            <a:avLst/>
          </a:prstGeom>
          <a:solidFill>
            <a:srgbClr val="00C8FF">
              <a:alpha val="7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11887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FFFFF"/>
                </a:solidFill>
              </a:rPr>
              <a:t>Thank You</a:t>
            </a:r>
            <a:endParaRPr lang="en-US" sz="6400" dirty="0"/>
          </a:p>
        </p:txBody>
      </p:sp>
      <p:sp>
        <p:nvSpPr>
          <p:cNvPr id="33" name="Text 31"/>
          <p:cNvSpPr/>
          <p:nvPr/>
        </p:nvSpPr>
        <p:spPr>
          <a:xfrm>
            <a:off x="457200" y="2423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00C8FF"/>
                </a:solidFill>
              </a:rPr>
              <a:t>Questions &amp; Discussion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457200" y="3154680"/>
            <a:ext cx="7772400" cy="0"/>
          </a:xfrm>
          <a:prstGeom prst="line">
            <a:avLst/>
          </a:prstGeom>
          <a:noFill/>
          <a:ln w="19050">
            <a:solidFill>
              <a:srgbClr val="1E3A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BBF"/>
                </a:solidFill>
              </a:rPr>
              <a:t>ECE 326 — Integrated Circuits  |  CMOS 4-Stage Inverter Delay Line  |  TSMC 65nm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36621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A7090"/>
                </a:solidFill>
              </a:rPr>
              <a:t>Cadence Virtuoso  |  TSMC 65nm  |  Spectre Simulator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1094</Words>
  <Application>Microsoft Office PowerPoint</Application>
  <PresentationFormat>On-screen Show (16:9)</PresentationFormat>
  <Paragraphs>221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CMOS Inverter Delay Line – IC Layout Project</dc:title>
  <dc:subject>PptxGenJS Presentation</dc:subject>
  <dc:creator>PptxGenJS</dc:creator>
  <cp:lastModifiedBy>Moataz Rafeq</cp:lastModifiedBy>
  <cp:revision>6</cp:revision>
  <dcterms:created xsi:type="dcterms:W3CDTF">2026-05-23T00:45:54Z</dcterms:created>
  <dcterms:modified xsi:type="dcterms:W3CDTF">2026-05-23T14:39:11Z</dcterms:modified>
</cp:coreProperties>
</file>